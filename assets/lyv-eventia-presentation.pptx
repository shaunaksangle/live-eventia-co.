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 w="12700">
            <a:solidFill>
              <a:srgbClr val="FFFA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0"/>
            <a:ext cx="4700016" cy="6858000"/>
          </a:xfrm>
          <a:prstGeom prst="rect">
            <a:avLst/>
          </a:prstGeom>
          <a:solidFill>
            <a:srgbClr val="17183F"/>
          </a:solidFill>
          <a:ln w="12700">
            <a:solidFill>
              <a:srgbClr val="1718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67728" y="0"/>
            <a:ext cx="219456" cy="6858000"/>
          </a:xfrm>
          <a:prstGeom prst="rect">
            <a:avLst/>
          </a:prstGeom>
          <a:solidFill>
            <a:srgbClr val="F7B521"/>
          </a:solidFill>
          <a:ln w="12700">
            <a:solidFill>
              <a:srgbClr val="F7B52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77240" y="5257800"/>
            <a:ext cx="2377440" cy="2377440"/>
          </a:xfrm>
          <a:prstGeom prst="ellipse">
            <a:avLst/>
          </a:prstGeom>
          <a:solidFill>
            <a:srgbClr val="EDF9F5">
              <a:alpha val="95000"/>
            </a:srgbClr>
          </a:solidFill>
          <a:ln w="12700">
            <a:solidFill>
              <a:srgbClr val="EDF9F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99632" y="685800"/>
            <a:ext cx="2926080" cy="2926080"/>
          </a:xfrm>
          <a:prstGeom prst="ellipse">
            <a:avLst/>
          </a:prstGeom>
          <a:solidFill>
            <a:srgbClr val="55C6C2">
              <a:alpha val="38000"/>
            </a:srgbClr>
          </a:solidFill>
          <a:ln w="12700">
            <a:solidFill>
              <a:srgbClr val="55C6C2">
                <a:alpha val="0"/>
              </a:srgbClr>
            </a:solidFill>
            <a:prstDash val="solid"/>
          </a:ln>
        </p:spPr>
      </p:sp>
      <p:pic>
        <p:nvPicPr>
          <p:cNvPr id="7" name="Image 0" descr="C:\Users\Hp\Documents\Codex\2026-06-09\files-mentioned-by-the-user-credgenics\outputs\live-eventia-site\assets\live-eventia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75488"/>
            <a:ext cx="658368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35024" y="607162"/>
            <a:ext cx="2706624" cy="3818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Lyv Eventia &amp; Co.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21792" y="1572768"/>
            <a:ext cx="5897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252B4A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Lively Operations &amp; Engagement Deck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658368" y="2852928"/>
            <a:ext cx="5376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86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responsible operating system for borrower contact, field recovery, legal coordination, payment reminders and portfolio visibility.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58368" y="38221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B3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Manage. Recover. Grow.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658368" y="4800600"/>
            <a:ext cx="1664208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EADFD8">
                <a:alpha val="7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492861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9D97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80%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822960" y="527608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86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Resolution focus</a:t>
            </a:r>
            <a:endParaRPr lang="en-US" sz="840" dirty="0"/>
          </a:p>
        </p:txBody>
      </p:sp>
      <p:sp>
        <p:nvSpPr>
          <p:cNvPr id="15" name="Shape 12"/>
          <p:cNvSpPr/>
          <p:nvPr/>
        </p:nvSpPr>
        <p:spPr>
          <a:xfrm>
            <a:off x="2542032" y="4800600"/>
            <a:ext cx="1664208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EADFD8">
                <a:alpha val="7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06624" y="492861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7B521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47%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2706624" y="527608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86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lift</a:t>
            </a:r>
            <a:endParaRPr lang="en-US" sz="840" dirty="0"/>
          </a:p>
        </p:txBody>
      </p:sp>
      <p:sp>
        <p:nvSpPr>
          <p:cNvPr id="18" name="Shape 15"/>
          <p:cNvSpPr/>
          <p:nvPr/>
        </p:nvSpPr>
        <p:spPr>
          <a:xfrm>
            <a:off x="4425696" y="4800600"/>
            <a:ext cx="1664208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EADFD8">
                <a:alpha val="7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90288" y="492861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ED4933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24h</a:t>
            </a:r>
            <a:endParaRPr lang="en-US" sz="2300" dirty="0"/>
          </a:p>
        </p:txBody>
      </p:sp>
      <p:sp>
        <p:nvSpPr>
          <p:cNvPr id="20" name="Text 17"/>
          <p:cNvSpPr/>
          <p:nvPr/>
        </p:nvSpPr>
        <p:spPr>
          <a:xfrm>
            <a:off x="4590288" y="527608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86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updates</a:t>
            </a:r>
            <a:endParaRPr lang="en-US" sz="840" dirty="0"/>
          </a:p>
        </p:txBody>
      </p:sp>
      <p:sp>
        <p:nvSpPr>
          <p:cNvPr id="21" name="Shape 18"/>
          <p:cNvSpPr/>
          <p:nvPr/>
        </p:nvSpPr>
        <p:spPr>
          <a:xfrm>
            <a:off x="7818120" y="749808"/>
            <a:ext cx="3703320" cy="5358384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1" descr="C:\Users\Hp\Documents\Codex\2026-06-09\files-mentioned-by-the-user-credgenics\outputs\live-eventia-site\assets\visual-team-operat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945" y="932688"/>
            <a:ext cx="3248526" cy="2057400"/>
          </a:xfrm>
          <a:prstGeom prst="rect">
            <a:avLst/>
          </a:prstGeom>
        </p:spPr>
      </p:pic>
      <p:pic>
        <p:nvPicPr>
          <p:cNvPr id="23" name="Image 2" descr="C:\Users\Hp\Documents\Codex\2026-06-09\files-mentioned-by-the-user-credgenics\outputs\live-eventia-site\assets\live-eventia-m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310128"/>
            <a:ext cx="2057400" cy="20574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119872" y="555040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Lyv Eventia &amp; Co.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D8">
                <a:alpha val="80000"/>
              </a:srgbClr>
            </a:solidFill>
            <a:prstDash val="solid"/>
          </a:ln>
        </p:spPr>
      </p:sp>
      <p:pic>
        <p:nvPicPr>
          <p:cNvPr id="3" name="Image 0" descr="C:\Users\Hp\Documents\Codex\2026-06-09\files-mentioned-by-the-user-credgenics\outputs\live-eventia-site\assets\live-eventia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1887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94584"/>
            <a:ext cx="2441448" cy="1766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Lyv Eventia &amp; Co.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8549640" y="20116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686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OPERATING PROMISE</a:t>
            </a:r>
            <a:endParaRPr lang="en-US" sz="860" dirty="0"/>
          </a:p>
        </p:txBody>
      </p:sp>
      <p:sp>
        <p:nvSpPr>
          <p:cNvPr id="6" name="Text 3"/>
          <p:cNvSpPr/>
          <p:nvPr/>
        </p:nvSpPr>
        <p:spPr>
          <a:xfrm>
            <a:off x="502920" y="10241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2B4A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A sharper way to run recovery work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21208" y="1627632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686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website story turns into three operating advantages: measured communication, controlled field activity and visible portfolio movement.</a:t>
            </a:r>
            <a:endParaRPr lang="en-US" sz="1240" dirty="0"/>
          </a:p>
        </p:txBody>
      </p:sp>
      <p:sp>
        <p:nvSpPr>
          <p:cNvPr id="8" name="Shape 5"/>
          <p:cNvSpPr/>
          <p:nvPr/>
        </p:nvSpPr>
        <p:spPr>
          <a:xfrm>
            <a:off x="566928" y="2788920"/>
            <a:ext cx="1700784" cy="2011680"/>
          </a:xfrm>
          <a:prstGeom prst="roundRect">
            <a:avLst>
              <a:gd name="adj" fmla="val 4301"/>
            </a:avLst>
          </a:prstGeom>
          <a:solidFill>
            <a:srgbClr val="FFFAF3"/>
          </a:solidFill>
          <a:ln w="12700">
            <a:solidFill>
              <a:srgbClr val="EADFD8">
                <a:alpha val="7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" y="2999232"/>
            <a:ext cx="347472" cy="347472"/>
          </a:xfrm>
          <a:prstGeom prst="ellipse">
            <a:avLst/>
          </a:prstGeom>
          <a:solidFill>
            <a:srgbClr val="1F9D97"/>
          </a:solidFill>
          <a:ln w="12700">
            <a:solidFill>
              <a:srgbClr val="1F9D9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3090672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68096" y="350215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2B4A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Calm engagement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68096" y="3931920"/>
            <a:ext cx="1243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86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Borrower-sensitive messaging and controlled contact cadence.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2532888" y="2788920"/>
            <a:ext cx="1700784" cy="2011680"/>
          </a:xfrm>
          <a:prstGeom prst="roundRect">
            <a:avLst>
              <a:gd name="adj" fmla="val 4301"/>
            </a:avLst>
          </a:prstGeom>
          <a:solidFill>
            <a:srgbClr val="FFF2DF"/>
          </a:solidFill>
          <a:ln w="12700">
            <a:solidFill>
              <a:srgbClr val="EADFD8">
                <a:alpha val="7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15768" y="2999232"/>
            <a:ext cx="347472" cy="347472"/>
          </a:xfrm>
          <a:prstGeom prst="ellipse">
            <a:avLst/>
          </a:prstGeom>
          <a:solidFill>
            <a:srgbClr val="F7B521"/>
          </a:solidFill>
          <a:ln w="12700">
            <a:solidFill>
              <a:srgbClr val="F7B52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807208" y="3090672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734056" y="350215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2B4A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Field control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734056" y="3931920"/>
            <a:ext cx="1243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86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Assignment, route visibility and accountable execution loops.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4498848" y="2788920"/>
            <a:ext cx="1700784" cy="2011680"/>
          </a:xfrm>
          <a:prstGeom prst="roundRect">
            <a:avLst>
              <a:gd name="adj" fmla="val 4301"/>
            </a:avLst>
          </a:prstGeom>
          <a:solidFill>
            <a:srgbClr val="FFFAF3"/>
          </a:solidFill>
          <a:ln w="12700">
            <a:solidFill>
              <a:srgbClr val="EADFD8">
                <a:alpha val="75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81728" y="2999232"/>
            <a:ext cx="347472" cy="347472"/>
          </a:xfrm>
          <a:prstGeom prst="ellipse">
            <a:avLst/>
          </a:prstGeom>
          <a:solidFill>
            <a:srgbClr val="ED4933"/>
          </a:solidFill>
          <a:ln w="12700">
            <a:solidFill>
              <a:srgbClr val="ED49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73168" y="3090672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700016" y="350215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2B4A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Portfolio clarity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700016" y="3931920"/>
            <a:ext cx="1243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86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Branch, bucket and agent-level reporting for faster decisions.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6784848" y="1097280"/>
            <a:ext cx="4800600" cy="4498848"/>
          </a:xfrm>
          <a:prstGeom prst="roundRect">
            <a:avLst>
              <a:gd name="adj" fmla="val 1626"/>
            </a:avLst>
          </a:prstGeom>
          <a:solidFill>
            <a:srgbClr val="FFFAF3"/>
          </a:solidFill>
          <a:ln w="12700">
            <a:solidFill>
              <a:srgbClr val="EADFD8">
                <a:alpha val="75000"/>
              </a:srgbClr>
            </a:solidFill>
            <a:prstDash val="solid"/>
          </a:ln>
        </p:spPr>
      </p:sp>
      <p:pic>
        <p:nvPicPr>
          <p:cNvPr id="24" name="Image 1" descr="C:\Users\Hp\Documents\Codex\2026-06-09\files-mentioned-by-the-user-credgenics\outputs\live-eventia-site\assets\visual-compliance-de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3591" y="1353312"/>
            <a:ext cx="3493971" cy="221284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187184" y="38862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52B4A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Responsible execution layer</a:t>
            </a:r>
            <a:endParaRPr lang="en-US" sz="1900" dirty="0"/>
          </a:p>
        </p:txBody>
      </p:sp>
      <p:sp>
        <p:nvSpPr>
          <p:cNvPr id="26" name="Shape 22"/>
          <p:cNvSpPr/>
          <p:nvPr/>
        </p:nvSpPr>
        <p:spPr>
          <a:xfrm>
            <a:off x="7205472" y="4462272"/>
            <a:ext cx="3383280" cy="0"/>
          </a:xfrm>
          <a:prstGeom prst="line">
            <a:avLst/>
          </a:prstGeom>
          <a:noFill/>
          <a:ln w="17780">
            <a:solidFill>
              <a:srgbClr val="1F9D9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296912" y="437083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86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Communication logs</a:t>
            </a:r>
            <a:endParaRPr lang="en-US" sz="920" dirty="0"/>
          </a:p>
        </p:txBody>
      </p:sp>
      <p:sp>
        <p:nvSpPr>
          <p:cNvPr id="28" name="Shape 24"/>
          <p:cNvSpPr/>
          <p:nvPr/>
        </p:nvSpPr>
        <p:spPr>
          <a:xfrm>
            <a:off x="7205472" y="4791456"/>
            <a:ext cx="3383280" cy="0"/>
          </a:xfrm>
          <a:prstGeom prst="line">
            <a:avLst/>
          </a:prstGeom>
          <a:noFill/>
          <a:ln w="17780">
            <a:solidFill>
              <a:srgbClr val="F7B52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296912" y="4700016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86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status</a:t>
            </a:r>
            <a:endParaRPr lang="en-US" sz="920" dirty="0"/>
          </a:p>
        </p:txBody>
      </p:sp>
      <p:sp>
        <p:nvSpPr>
          <p:cNvPr id="30" name="Shape 26"/>
          <p:cNvSpPr/>
          <p:nvPr/>
        </p:nvSpPr>
        <p:spPr>
          <a:xfrm>
            <a:off x="7205472" y="5120640"/>
            <a:ext cx="3383280" cy="0"/>
          </a:xfrm>
          <a:prstGeom prst="line">
            <a:avLst/>
          </a:prstGeom>
          <a:noFill/>
          <a:ln w="17780">
            <a:solidFill>
              <a:srgbClr val="ED493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296912" y="5029200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86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Legal coordination</a:t>
            </a:r>
            <a:endParaRPr lang="en-US" sz="920" dirty="0"/>
          </a:p>
        </p:txBody>
      </p:sp>
      <p:sp>
        <p:nvSpPr>
          <p:cNvPr id="32" name="Shape 28"/>
          <p:cNvSpPr/>
          <p:nvPr/>
        </p:nvSpPr>
        <p:spPr>
          <a:xfrm>
            <a:off x="384048" y="6510528"/>
            <a:ext cx="11411712" cy="0"/>
          </a:xfrm>
          <a:prstGeom prst="line">
            <a:avLst/>
          </a:prstGeom>
          <a:noFill/>
          <a:ln w="12700">
            <a:solidFill>
              <a:srgbClr val="EADFD8">
                <a:alpha val="7500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84048" y="65836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86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Lyv Eventia | 02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D8">
                <a:alpha val="80000"/>
              </a:srgbClr>
            </a:solidFill>
            <a:prstDash val="solid"/>
          </a:ln>
        </p:spPr>
      </p:sp>
      <p:pic>
        <p:nvPicPr>
          <p:cNvPr id="3" name="Image 0" descr="C:\Users\Hp\Documents\Codex\2026-06-09\files-mentioned-by-the-user-credgenics\outputs\live-eventia-site\assets\live-eventia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1887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94584"/>
            <a:ext cx="2441448" cy="1766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Lyv Eventia &amp; Co.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8549640" y="20116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686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MAP</a:t>
            </a:r>
            <a:endParaRPr lang="en-US" sz="860" dirty="0"/>
          </a:p>
        </p:txBody>
      </p:sp>
      <p:sp>
        <p:nvSpPr>
          <p:cNvPr id="6" name="Text 3"/>
          <p:cNvSpPr/>
          <p:nvPr/>
        </p:nvSpPr>
        <p:spPr>
          <a:xfrm>
            <a:off x="502920" y="10058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52B4A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From portfolio input to action-ready visibility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21208" y="157276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6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operating flow keeps handoffs explicit, so every borrower interaction and field movement has context.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58368" y="2331720"/>
            <a:ext cx="1847088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ADFD8">
                <a:alpha val="7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2532888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2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layer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58368" y="3429000"/>
            <a:ext cx="1847088" cy="585216"/>
          </a:xfrm>
          <a:prstGeom prst="roundRect">
            <a:avLst>
              <a:gd name="adj" fmla="val 12500"/>
            </a:avLst>
          </a:prstGeom>
          <a:solidFill>
            <a:srgbClr val="17183F"/>
          </a:solidFill>
          <a:ln w="12700">
            <a:solidFill>
              <a:srgbClr val="EADFD8">
                <a:alpha val="7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3630168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layer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58368" y="4526280"/>
            <a:ext cx="1847088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ADFD8">
                <a:alpha val="7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4727448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2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layer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852928" y="2249424"/>
            <a:ext cx="1143000" cy="292608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ADFD8">
                <a:alpha val="8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852928" y="2249424"/>
            <a:ext cx="1143000" cy="137160"/>
          </a:xfrm>
          <a:prstGeom prst="rect">
            <a:avLst/>
          </a:prstGeom>
          <a:solidFill>
            <a:srgbClr val="1F9D97"/>
          </a:solidFill>
          <a:ln w="12700">
            <a:solidFill>
              <a:srgbClr val="1F9D9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980944" y="288036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2B4A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Portfolio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52B4A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intake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209544" y="4069080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9D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S1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3995928" y="3703320"/>
            <a:ext cx="502920" cy="0"/>
          </a:xfrm>
          <a:prstGeom prst="line">
            <a:avLst/>
          </a:prstGeom>
          <a:noFill/>
          <a:ln w="15240">
            <a:solidFill>
              <a:srgbClr val="686F86">
                <a:alpha val="7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498848" y="2249424"/>
            <a:ext cx="1143000" cy="292608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ADFD8">
                <a:alpha val="82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498848" y="2249424"/>
            <a:ext cx="1143000" cy="137160"/>
          </a:xfrm>
          <a:prstGeom prst="rect">
            <a:avLst/>
          </a:prstGeom>
          <a:solidFill>
            <a:srgbClr val="55C6C2"/>
          </a:solidFill>
          <a:ln w="12700">
            <a:solidFill>
              <a:srgbClr val="55C6C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26864" y="288036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2B4A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Smart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52B4A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segmentation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855464" y="4069080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5C6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S2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641848" y="3703320"/>
            <a:ext cx="502920" cy="0"/>
          </a:xfrm>
          <a:prstGeom prst="line">
            <a:avLst/>
          </a:prstGeom>
          <a:noFill/>
          <a:ln w="15240">
            <a:solidFill>
              <a:srgbClr val="686F86">
                <a:alpha val="7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6144768" y="2249424"/>
            <a:ext cx="1143000" cy="292608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ADFD8">
                <a:alpha val="82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44768" y="2249424"/>
            <a:ext cx="1143000" cy="137160"/>
          </a:xfrm>
          <a:prstGeom prst="rect">
            <a:avLst/>
          </a:prstGeom>
          <a:solidFill>
            <a:srgbClr val="F7B521"/>
          </a:solidFill>
          <a:ln w="12700">
            <a:solidFill>
              <a:srgbClr val="F7B52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72784" y="288036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2B4A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Contact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52B4A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cadence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501384" y="4069080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7B5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7287768" y="3703320"/>
            <a:ext cx="502920" cy="0"/>
          </a:xfrm>
          <a:prstGeom prst="line">
            <a:avLst/>
          </a:prstGeom>
          <a:noFill/>
          <a:ln w="15240">
            <a:solidFill>
              <a:srgbClr val="686F86">
                <a:alpha val="7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7790688" y="2249424"/>
            <a:ext cx="1143000" cy="292608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ADFD8">
                <a:alpha val="82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790688" y="2249424"/>
            <a:ext cx="1143000" cy="137160"/>
          </a:xfrm>
          <a:prstGeom prst="rect">
            <a:avLst/>
          </a:prstGeom>
          <a:solidFill>
            <a:srgbClr val="ED4933"/>
          </a:solidFill>
          <a:ln w="12700">
            <a:solidFill>
              <a:srgbClr val="ED49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918704" y="288036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2B4A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Field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52B4A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execution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8147304" y="4069080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D4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S4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8933688" y="3703320"/>
            <a:ext cx="502920" cy="0"/>
          </a:xfrm>
          <a:prstGeom prst="line">
            <a:avLst/>
          </a:prstGeom>
          <a:noFill/>
          <a:ln w="15240">
            <a:solidFill>
              <a:srgbClr val="686F86">
                <a:alpha val="7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9436608" y="2249424"/>
            <a:ext cx="1143000" cy="292608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ADFD8">
                <a:alpha val="82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436608" y="2249424"/>
            <a:ext cx="1143000" cy="137160"/>
          </a:xfrm>
          <a:prstGeom prst="rect">
            <a:avLst/>
          </a:prstGeom>
          <a:solidFill>
            <a:srgbClr val="2B3270"/>
          </a:solidFill>
          <a:ln w="12700">
            <a:solidFill>
              <a:srgbClr val="2B327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564624" y="288036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2B4A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Resolution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52B4A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analytics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9793224" y="4069080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3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S5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9098280" y="1005840"/>
            <a:ext cx="2304288" cy="786384"/>
          </a:xfrm>
          <a:prstGeom prst="roundRect">
            <a:avLst>
              <a:gd name="adj" fmla="val 9302"/>
            </a:avLst>
          </a:prstGeom>
          <a:solidFill>
            <a:srgbClr val="17183F"/>
          </a:solidFill>
          <a:ln w="12700">
            <a:solidFill>
              <a:srgbClr val="17183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308592" y="11704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Control view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9308592" y="1444752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EDF9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Branch, bucket and agent performance in one review loop.</a:t>
            </a:r>
            <a:endParaRPr lang="en-US" sz="780" dirty="0"/>
          </a:p>
        </p:txBody>
      </p:sp>
      <p:sp>
        <p:nvSpPr>
          <p:cNvPr id="41" name="Shape 38"/>
          <p:cNvSpPr/>
          <p:nvPr/>
        </p:nvSpPr>
        <p:spPr>
          <a:xfrm>
            <a:off x="384048" y="6510528"/>
            <a:ext cx="11411712" cy="0"/>
          </a:xfrm>
          <a:prstGeom prst="line">
            <a:avLst/>
          </a:prstGeom>
          <a:noFill/>
          <a:ln w="12700">
            <a:solidFill>
              <a:srgbClr val="EADFD8">
                <a:alpha val="75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84048" y="65836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86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Lyv Eventia | 03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D8">
                <a:alpha val="80000"/>
              </a:srgbClr>
            </a:solidFill>
            <a:prstDash val="solid"/>
          </a:ln>
        </p:spPr>
      </p:sp>
      <p:pic>
        <p:nvPicPr>
          <p:cNvPr id="3" name="Image 0" descr="C:\Users\Hp\Documents\Codex\2026-06-09\files-mentioned-by-the-user-credgenics\outputs\live-eventia-site\assets\live-eventia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1887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94584"/>
            <a:ext cx="2441448" cy="1766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Lyv Eventia &amp; Co.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8549640" y="20116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686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 RHYTHM</a:t>
            </a:r>
            <a:endParaRPr lang="en-US" sz="860" dirty="0"/>
          </a:p>
        </p:txBody>
      </p:sp>
      <p:sp>
        <p:nvSpPr>
          <p:cNvPr id="6" name="Text 3"/>
          <p:cNvSpPr/>
          <p:nvPr/>
        </p:nvSpPr>
        <p:spPr>
          <a:xfrm>
            <a:off x="502920" y="987552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2B4A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A daily cadence that stays human and measurable</a:t>
            </a:r>
            <a:endParaRPr lang="en-US" sz="2800" dirty="0"/>
          </a:p>
        </p:txBody>
      </p:sp>
      <p:pic>
        <p:nvPicPr>
          <p:cNvPr id="7" name="Image 1" descr="C:\Users\Hp\Documents\Codex\2026-06-09\files-mentioned-by-the-user-credgenics\outputs\live-eventia-site\assets\visual-analytics-re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4568" y="1005840"/>
            <a:ext cx="3681663" cy="23317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66928" y="3712464"/>
            <a:ext cx="658368" cy="658368"/>
          </a:xfrm>
          <a:prstGeom prst="ellipse">
            <a:avLst/>
          </a:prstGeom>
          <a:solidFill>
            <a:srgbClr val="1F9D97"/>
          </a:solidFill>
          <a:ln w="12700">
            <a:solidFill>
              <a:srgbClr val="1F9D9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77240" y="393192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65760" y="4553712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52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 intake</a:t>
            </a:r>
            <a:endParaRPr lang="en-US" sz="940" dirty="0"/>
          </a:p>
        </p:txBody>
      </p:sp>
      <p:sp>
        <p:nvSpPr>
          <p:cNvPr id="11" name="Shape 7"/>
          <p:cNvSpPr/>
          <p:nvPr/>
        </p:nvSpPr>
        <p:spPr>
          <a:xfrm>
            <a:off x="1243584" y="4041648"/>
            <a:ext cx="1307592" cy="0"/>
          </a:xfrm>
          <a:prstGeom prst="line">
            <a:avLst/>
          </a:prstGeom>
          <a:noFill/>
          <a:ln w="27940">
            <a:solidFill>
              <a:srgbClr val="EADFD8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2779776" y="3712464"/>
            <a:ext cx="658368" cy="658368"/>
          </a:xfrm>
          <a:prstGeom prst="ellipse">
            <a:avLst/>
          </a:prstGeom>
          <a:solidFill>
            <a:srgbClr val="F7B521"/>
          </a:solidFill>
          <a:ln w="12700">
            <a:solidFill>
              <a:srgbClr val="F7B52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990088" y="393192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578608" y="4553712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52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Segmentation</a:t>
            </a:r>
            <a:endParaRPr lang="en-US" sz="940" dirty="0"/>
          </a:p>
        </p:txBody>
      </p:sp>
      <p:sp>
        <p:nvSpPr>
          <p:cNvPr id="15" name="Shape 11"/>
          <p:cNvSpPr/>
          <p:nvPr/>
        </p:nvSpPr>
        <p:spPr>
          <a:xfrm>
            <a:off x="3456432" y="4041648"/>
            <a:ext cx="1307592" cy="0"/>
          </a:xfrm>
          <a:prstGeom prst="line">
            <a:avLst/>
          </a:prstGeom>
          <a:noFill/>
          <a:ln w="27940">
            <a:solidFill>
              <a:srgbClr val="EADFD8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4992624" y="3712464"/>
            <a:ext cx="658368" cy="658368"/>
          </a:xfrm>
          <a:prstGeom prst="ellipse">
            <a:avLst/>
          </a:prstGeom>
          <a:solidFill>
            <a:srgbClr val="1F9D97"/>
          </a:solidFill>
          <a:ln w="12700">
            <a:solidFill>
              <a:srgbClr val="1F9D9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202936" y="393192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791456" y="4553712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52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Communication plan</a:t>
            </a:r>
            <a:endParaRPr lang="en-US" sz="940" dirty="0"/>
          </a:p>
        </p:txBody>
      </p:sp>
      <p:sp>
        <p:nvSpPr>
          <p:cNvPr id="19" name="Shape 15"/>
          <p:cNvSpPr/>
          <p:nvPr/>
        </p:nvSpPr>
        <p:spPr>
          <a:xfrm>
            <a:off x="5669280" y="4041648"/>
            <a:ext cx="1307592" cy="0"/>
          </a:xfrm>
          <a:prstGeom prst="line">
            <a:avLst/>
          </a:prstGeom>
          <a:noFill/>
          <a:ln w="27940">
            <a:solidFill>
              <a:srgbClr val="EADFD8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7205472" y="3712464"/>
            <a:ext cx="658368" cy="658368"/>
          </a:xfrm>
          <a:prstGeom prst="ellipse">
            <a:avLst/>
          </a:prstGeom>
          <a:solidFill>
            <a:srgbClr val="F7B521"/>
          </a:solidFill>
          <a:ln w="12700">
            <a:solidFill>
              <a:srgbClr val="F7B52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415784" y="393192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004304" y="4553712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52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action</a:t>
            </a:r>
            <a:endParaRPr lang="en-US" sz="940" dirty="0"/>
          </a:p>
        </p:txBody>
      </p:sp>
      <p:sp>
        <p:nvSpPr>
          <p:cNvPr id="23" name="Shape 19"/>
          <p:cNvSpPr/>
          <p:nvPr/>
        </p:nvSpPr>
        <p:spPr>
          <a:xfrm>
            <a:off x="7882128" y="4041648"/>
            <a:ext cx="1307592" cy="0"/>
          </a:xfrm>
          <a:prstGeom prst="line">
            <a:avLst/>
          </a:prstGeom>
          <a:noFill/>
          <a:ln w="27940">
            <a:solidFill>
              <a:srgbClr val="EADFD8"/>
            </a:solidFill>
            <a:prstDash val="solid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9418320" y="3712464"/>
            <a:ext cx="658368" cy="658368"/>
          </a:xfrm>
          <a:prstGeom prst="ellipse">
            <a:avLst/>
          </a:prstGeom>
          <a:solidFill>
            <a:srgbClr val="1F9D97"/>
          </a:solidFill>
          <a:ln w="12700">
            <a:solidFill>
              <a:srgbClr val="1F9D97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9628632" y="393192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9217152" y="4553712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52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Resolution tracking</a:t>
            </a:r>
            <a:endParaRPr lang="en-US" sz="940" dirty="0"/>
          </a:p>
        </p:txBody>
      </p:sp>
      <p:sp>
        <p:nvSpPr>
          <p:cNvPr id="27" name="Shape 23"/>
          <p:cNvSpPr/>
          <p:nvPr/>
        </p:nvSpPr>
        <p:spPr>
          <a:xfrm>
            <a:off x="621792" y="5504688"/>
            <a:ext cx="10954512" cy="475488"/>
          </a:xfrm>
          <a:prstGeom prst="roundRect">
            <a:avLst>
              <a:gd name="adj" fmla="val 15385"/>
            </a:avLst>
          </a:prstGeom>
          <a:solidFill>
            <a:srgbClr val="FFFAF3"/>
          </a:solidFill>
          <a:ln w="12700">
            <a:solidFill>
              <a:srgbClr val="EADFD8">
                <a:alpha val="70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68680" y="5660136"/>
            <a:ext cx="10369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86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Designed to reduce noise: one cadence, clear owners, visible action status and compliant borrower communication.</a:t>
            </a:r>
            <a:endParaRPr lang="en-US" sz="940" dirty="0"/>
          </a:p>
        </p:txBody>
      </p:sp>
      <p:sp>
        <p:nvSpPr>
          <p:cNvPr id="29" name="Shape 25"/>
          <p:cNvSpPr/>
          <p:nvPr/>
        </p:nvSpPr>
        <p:spPr>
          <a:xfrm>
            <a:off x="384048" y="6510528"/>
            <a:ext cx="11411712" cy="0"/>
          </a:xfrm>
          <a:prstGeom prst="line">
            <a:avLst/>
          </a:prstGeom>
          <a:noFill/>
          <a:ln w="12700">
            <a:solidFill>
              <a:srgbClr val="EADFD8">
                <a:alpha val="75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84048" y="65836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86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Lyv Eventia | 04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D8">
                <a:alpha val="80000"/>
              </a:srgbClr>
            </a:solidFill>
            <a:prstDash val="solid"/>
          </a:ln>
        </p:spPr>
      </p:sp>
      <p:pic>
        <p:nvPicPr>
          <p:cNvPr id="3" name="Image 0" descr="C:\Users\Hp\Documents\Codex\2026-06-09\files-mentioned-by-the-user-credgenics\outputs\live-eventia-site\assets\live-eventia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1887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94584"/>
            <a:ext cx="2441448" cy="1766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Lyv Eventia &amp; Co.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8549640" y="20116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686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PROOF</a:t>
            </a:r>
            <a:endParaRPr lang="en-US" sz="860" dirty="0"/>
          </a:p>
        </p:txBody>
      </p:sp>
      <p:sp>
        <p:nvSpPr>
          <p:cNvPr id="6" name="Text 3"/>
          <p:cNvSpPr/>
          <p:nvPr/>
        </p:nvSpPr>
        <p:spPr>
          <a:xfrm>
            <a:off x="502920" y="96926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2B4A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What leaders can inspect every week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21208" y="1572768"/>
            <a:ext cx="5047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6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visual language used on the website carries into a clean review deck: status, movement and accountability.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58368" y="251460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252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Resolution movement</a:t>
            </a:r>
            <a:endParaRPr lang="en-US" sz="940" dirty="0"/>
          </a:p>
        </p:txBody>
      </p:sp>
      <p:sp>
        <p:nvSpPr>
          <p:cNvPr id="9" name="Shape 6"/>
          <p:cNvSpPr/>
          <p:nvPr/>
        </p:nvSpPr>
        <p:spPr>
          <a:xfrm>
            <a:off x="2578608" y="2578608"/>
            <a:ext cx="2743200" cy="155448"/>
          </a:xfrm>
          <a:prstGeom prst="rect">
            <a:avLst/>
          </a:prstGeom>
          <a:solidFill>
            <a:srgbClr val="EADFD8">
              <a:alpha val="90000"/>
            </a:srgbClr>
          </a:solidFill>
          <a:ln w="12700">
            <a:solidFill>
              <a:srgbClr val="EADFD8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78608" y="2578608"/>
            <a:ext cx="2194560" cy="155448"/>
          </a:xfrm>
          <a:prstGeom prst="rect">
            <a:avLst/>
          </a:prstGeom>
          <a:solidFill>
            <a:srgbClr val="1F9D97"/>
          </a:solidFill>
          <a:ln w="12700">
            <a:solidFill>
              <a:srgbClr val="1F9D97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13248" y="2496312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F9D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80%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658368" y="322783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252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improvement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2578608" y="3291840"/>
            <a:ext cx="2743200" cy="155448"/>
          </a:xfrm>
          <a:prstGeom prst="rect">
            <a:avLst/>
          </a:prstGeom>
          <a:solidFill>
            <a:srgbClr val="EADFD8">
              <a:alpha val="90000"/>
            </a:srgbClr>
          </a:solidFill>
          <a:ln w="12700">
            <a:solidFill>
              <a:srgbClr val="EADFD8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78608" y="3291840"/>
            <a:ext cx="1289304" cy="155448"/>
          </a:xfrm>
          <a:prstGeom prst="rect">
            <a:avLst/>
          </a:prstGeom>
          <a:solidFill>
            <a:srgbClr val="F7B521"/>
          </a:solidFill>
          <a:ln w="12700">
            <a:solidFill>
              <a:srgbClr val="F7B521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13248" y="3209544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7B5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47%</a:t>
            </a:r>
            <a:endParaRPr lang="en-US" sz="880" dirty="0"/>
          </a:p>
        </p:txBody>
      </p:sp>
      <p:sp>
        <p:nvSpPr>
          <p:cNvPr id="16" name="Text 13"/>
          <p:cNvSpPr/>
          <p:nvPr/>
        </p:nvSpPr>
        <p:spPr>
          <a:xfrm>
            <a:off x="658368" y="394106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252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visibility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2578608" y="4005072"/>
            <a:ext cx="2743200" cy="155448"/>
          </a:xfrm>
          <a:prstGeom prst="rect">
            <a:avLst/>
          </a:prstGeom>
          <a:solidFill>
            <a:srgbClr val="EADFD8">
              <a:alpha val="90000"/>
            </a:srgbClr>
          </a:solidFill>
          <a:ln w="12700">
            <a:solidFill>
              <a:srgbClr val="EADFD8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578608" y="4005072"/>
            <a:ext cx="2523744" cy="155448"/>
          </a:xfrm>
          <a:prstGeom prst="rect">
            <a:avLst/>
          </a:prstGeom>
          <a:solidFill>
            <a:srgbClr val="ED4933"/>
          </a:solidFill>
          <a:ln w="12700">
            <a:solidFill>
              <a:srgbClr val="ED4933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13248" y="3922776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ED4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92%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6446520" y="1207008"/>
            <a:ext cx="4901184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ADFD8">
                <a:alpha val="7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84848" y="1554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52B4A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Enterprise-ready association set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6784848" y="2148840"/>
            <a:ext cx="1097280" cy="621792"/>
          </a:xfrm>
          <a:prstGeom prst="rect">
            <a:avLst>
              <a:gd name="adj" fmla="val 11765"/>
            </a:avLst>
          </a:prstGeom>
          <a:solidFill>
            <a:srgbClr val="FFFAF3"/>
          </a:solidFill>
          <a:ln w="12700">
            <a:solidFill>
              <a:srgbClr val="EADFD8">
                <a:alpha val="65000"/>
              </a:srgbClr>
            </a:solidFill>
            <a:prstDash val="solid"/>
          </a:ln>
        </p:spPr>
      </p:sp>
      <p:pic>
        <p:nvPicPr>
          <p:cNvPr id="23" name="Image 1" descr="C:\Users\Hp\Documents\Codex\2026-06-09\files-mentioned-by-the-user-credgenics\outputs\live-eventia-site\assets\partner-icici-ba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432" y="2256028"/>
            <a:ext cx="896112" cy="398272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8202168" y="2148840"/>
            <a:ext cx="1097280" cy="621792"/>
          </a:xfrm>
          <a:prstGeom prst="rect">
            <a:avLst>
              <a:gd name="adj" fmla="val 11765"/>
            </a:avLst>
          </a:prstGeom>
          <a:solidFill>
            <a:srgbClr val="FFFAF3"/>
          </a:solidFill>
          <a:ln w="12700">
            <a:solidFill>
              <a:srgbClr val="EADFD8">
                <a:alpha val="65000"/>
              </a:srgbClr>
            </a:solidFill>
            <a:prstDash val="solid"/>
          </a:ln>
        </p:spPr>
      </p:sp>
      <p:pic>
        <p:nvPicPr>
          <p:cNvPr id="25" name="Image 2" descr="C:\Users\Hp\Documents\Codex\2026-06-09\files-mentioned-by-the-user-credgenics\outputs\live-eventia-site\assets\partner-hdfc-ba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2256028"/>
            <a:ext cx="896112" cy="398272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9619488" y="2148840"/>
            <a:ext cx="1097280" cy="621792"/>
          </a:xfrm>
          <a:prstGeom prst="rect">
            <a:avLst>
              <a:gd name="adj" fmla="val 11765"/>
            </a:avLst>
          </a:prstGeom>
          <a:solidFill>
            <a:srgbClr val="FFFAF3"/>
          </a:solidFill>
          <a:ln w="12700">
            <a:solidFill>
              <a:srgbClr val="EADFD8">
                <a:alpha val="65000"/>
              </a:srgbClr>
            </a:solidFill>
            <a:prstDash val="solid"/>
          </a:ln>
        </p:spPr>
      </p:sp>
      <p:pic>
        <p:nvPicPr>
          <p:cNvPr id="27" name="Image 3" descr="C:\Users\Hp\Documents\Codex\2026-06-09\files-mentioned-by-the-user-credgenics\outputs\live-eventia-site\assets\partner-bajaj-finserv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072" y="2256028"/>
            <a:ext cx="896112" cy="398272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6784848" y="3108960"/>
            <a:ext cx="1097280" cy="621792"/>
          </a:xfrm>
          <a:prstGeom prst="rect">
            <a:avLst>
              <a:gd name="adj" fmla="val 11765"/>
            </a:avLst>
          </a:prstGeom>
          <a:solidFill>
            <a:srgbClr val="FFFAF3"/>
          </a:solidFill>
          <a:ln w="12700">
            <a:solidFill>
              <a:srgbClr val="EADFD8">
                <a:alpha val="65000"/>
              </a:srgbClr>
            </a:solidFill>
            <a:prstDash val="solid"/>
          </a:ln>
        </p:spPr>
      </p:sp>
      <p:pic>
        <p:nvPicPr>
          <p:cNvPr id="29" name="Image 4" descr="C:\Users\Hp\Documents\Codex\2026-06-09\files-mentioned-by-the-user-credgenics\outputs\live-eventia-site\assets\partner-idfc-first-ba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5432" y="3216148"/>
            <a:ext cx="896112" cy="398272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8202168" y="3108960"/>
            <a:ext cx="1097280" cy="621792"/>
          </a:xfrm>
          <a:prstGeom prst="rect">
            <a:avLst>
              <a:gd name="adj" fmla="val 11765"/>
            </a:avLst>
          </a:prstGeom>
          <a:solidFill>
            <a:srgbClr val="FFFAF3"/>
          </a:solidFill>
          <a:ln w="12700">
            <a:solidFill>
              <a:srgbClr val="EADFD8">
                <a:alpha val="65000"/>
              </a:srgbClr>
            </a:solidFill>
            <a:prstDash val="solid"/>
          </a:ln>
        </p:spPr>
      </p:sp>
      <p:pic>
        <p:nvPicPr>
          <p:cNvPr id="31" name="Image 5" descr="C:\Users\Hp\Documents\Codex\2026-06-09\files-mentioned-by-the-user-credgenics\outputs\live-eventia-site\assets\partner-tata-capit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752" y="3216148"/>
            <a:ext cx="896112" cy="398272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9619488" y="3108960"/>
            <a:ext cx="1097280" cy="621792"/>
          </a:xfrm>
          <a:prstGeom prst="rect">
            <a:avLst>
              <a:gd name="adj" fmla="val 11765"/>
            </a:avLst>
          </a:prstGeom>
          <a:solidFill>
            <a:srgbClr val="FFFAF3"/>
          </a:solidFill>
          <a:ln w="12700">
            <a:solidFill>
              <a:srgbClr val="EADFD8">
                <a:alpha val="65000"/>
              </a:srgbClr>
            </a:solidFill>
            <a:prstDash val="solid"/>
          </a:ln>
        </p:spPr>
      </p:sp>
      <p:pic>
        <p:nvPicPr>
          <p:cNvPr id="33" name="Image 6" descr="C:\Users\Hp\Documents\Codex\2026-06-09\files-mentioned-by-the-user-credgenics\outputs\live-eventia-site\assets\partner-muthoot-capit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0072" y="3216148"/>
            <a:ext cx="896112" cy="39827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812280" y="464515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86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final PDF as a client-ready overview or a first meeting leave-behind.</a:t>
            </a:r>
            <a:endParaRPr lang="en-US" sz="1030" dirty="0"/>
          </a:p>
        </p:txBody>
      </p:sp>
      <p:sp>
        <p:nvSpPr>
          <p:cNvPr id="35" name="Shape 26"/>
          <p:cNvSpPr/>
          <p:nvPr/>
        </p:nvSpPr>
        <p:spPr>
          <a:xfrm>
            <a:off x="384048" y="6510528"/>
            <a:ext cx="11411712" cy="0"/>
          </a:xfrm>
          <a:prstGeom prst="line">
            <a:avLst/>
          </a:prstGeom>
          <a:noFill/>
          <a:ln w="12700">
            <a:solidFill>
              <a:srgbClr val="EADFD8">
                <a:alpha val="75000"/>
              </a:srgbClr>
            </a:solidFill>
            <a:prstDash val="solid"/>
          </a:ln>
        </p:spPr>
      </p:sp>
      <p:sp>
        <p:nvSpPr>
          <p:cNvPr id="36" name="Text 27"/>
          <p:cNvSpPr/>
          <p:nvPr/>
        </p:nvSpPr>
        <p:spPr>
          <a:xfrm>
            <a:off x="384048" y="65836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86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Lyv Eventia | 05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3F"/>
          </a:solidFill>
          <a:ln w="12700">
            <a:solidFill>
              <a:srgbClr val="1718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F7B521"/>
          </a:solidFill>
          <a:ln w="12700">
            <a:solidFill>
              <a:srgbClr val="F7B52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182880"/>
            <a:ext cx="3840480" cy="3840480"/>
          </a:xfrm>
          <a:prstGeom prst="ellipse">
            <a:avLst/>
          </a:prstGeom>
          <a:solidFill>
            <a:srgbClr val="1F9D97">
              <a:alpha val="38000"/>
            </a:srgbClr>
          </a:solidFill>
          <a:ln w="12700">
            <a:solidFill>
              <a:srgbClr val="1F9D9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3977640"/>
            <a:ext cx="2011680" cy="2011680"/>
          </a:xfrm>
          <a:prstGeom prst="ellipse">
            <a:avLst/>
          </a:prstGeom>
          <a:solidFill>
            <a:srgbClr val="ED4933">
              <a:alpha val="75000"/>
            </a:srgbClr>
          </a:solidFill>
          <a:ln w="12700">
            <a:solidFill>
              <a:srgbClr val="ED49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566928"/>
            <a:ext cx="35204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C:\Users\Hp\Documents\Codex\2026-06-09\files-mentioned-by-the-user-credgenics\outputs\live-eventia-site\assets\live-eventia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713232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89888" y="815645"/>
            <a:ext cx="2560320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Lyv Eventia &amp; Co.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13232" y="1847088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Ready for a sharper recovery review?</a:t>
            </a:r>
            <a:endParaRPr lang="en-US" sz="3500" dirty="0"/>
          </a:p>
        </p:txBody>
      </p:sp>
      <p:sp>
        <p:nvSpPr>
          <p:cNvPr id="10" name="Text 7"/>
          <p:cNvSpPr/>
          <p:nvPr/>
        </p:nvSpPr>
        <p:spPr>
          <a:xfrm>
            <a:off x="749808" y="298094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DF9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deck and the downloadable PDF mirror the website identity while staying easy to read for client conversations.</a:t>
            </a:r>
            <a:endParaRPr lang="en-US" sz="1220" dirty="0"/>
          </a:p>
        </p:txBody>
      </p:sp>
      <p:sp>
        <p:nvSpPr>
          <p:cNvPr id="11" name="Text 8"/>
          <p:cNvSpPr/>
          <p:nvPr/>
        </p:nvSpPr>
        <p:spPr>
          <a:xfrm>
            <a:off x="841248" y="4133088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follow-ups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49808" y="4233672"/>
            <a:ext cx="54864" cy="0"/>
          </a:xfrm>
          <a:prstGeom prst="line">
            <a:avLst/>
          </a:prstGeom>
          <a:noFill/>
          <a:ln w="38100">
            <a:solidFill>
              <a:srgbClr val="F7B52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0" y="4133088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Tele-calling coordination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91840" y="4233672"/>
            <a:ext cx="54864" cy="0"/>
          </a:xfrm>
          <a:prstGeom prst="line">
            <a:avLst/>
          </a:prstGeom>
          <a:noFill/>
          <a:ln w="38100">
            <a:solidFill>
              <a:srgbClr val="F7B52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" y="4572000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collections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49808" y="4672584"/>
            <a:ext cx="54864" cy="0"/>
          </a:xfrm>
          <a:prstGeom prst="line">
            <a:avLst/>
          </a:prstGeom>
          <a:noFill/>
          <a:ln w="38100">
            <a:solidFill>
              <a:srgbClr val="F7B52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83280" y="4572000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Legal workflow support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91840" y="4672584"/>
            <a:ext cx="54864" cy="0"/>
          </a:xfrm>
          <a:prstGeom prst="line">
            <a:avLst/>
          </a:prstGeom>
          <a:noFill/>
          <a:ln w="38100">
            <a:solidFill>
              <a:srgbClr val="F7B52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99248" y="1051560"/>
            <a:ext cx="3383280" cy="42519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1" descr="C:\Users\Hp\Documents\Codex\2026-06-09\files-mentioned-by-the-user-credgenics\outputs\live-eventia-site\assets\visual-team-operat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562" y="1325880"/>
            <a:ext cx="2772076" cy="1755648"/>
          </a:xfrm>
          <a:prstGeom prst="rect">
            <a:avLst/>
          </a:prstGeom>
        </p:spPr>
      </p:pic>
      <p:pic>
        <p:nvPicPr>
          <p:cNvPr id="21" name="Image 2" descr="C:\Users\Hp\Documents\Codex\2026-06-09\files-mentioned-by-the-user-credgenics\outputs\live-eventia-site\assets\live-eventia-m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88" y="3429000"/>
            <a:ext cx="1316736" cy="13167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001000" y="4983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Lyv Eventia &amp; Co.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nda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Lyv Eventia and Co.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Lyv Eventia and Co. - presentation</dc:title>
  <dc:subject>Lyv Eventia and Co. website presentation</dc:subject>
  <dc:creator>Lyv Eventia and Co.</dc:creator>
  <cp:lastModifiedBy>Lyv Eventia and Co.</cp:lastModifiedBy>
  <cp:revision>1</cp:revision>
  <dcterms:created xsi:type="dcterms:W3CDTF">2026-06-13T12:41:41Z</dcterms:created>
  <dcterms:modified xsi:type="dcterms:W3CDTF">2026-06-13T12:41:41Z</dcterms:modified>
</cp:coreProperties>
</file>